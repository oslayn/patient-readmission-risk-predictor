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-18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D1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D3-43B1-9E34-E1B24BAE3765}"/>
              </c:ext>
            </c:extLst>
          </c:dPt>
          <c:dPt>
            <c:idx val="1"/>
            <c:bubble3D val="0"/>
            <c:spPr>
              <a:solidFill>
                <a:srgbClr val="2080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D3-43B1-9E34-E1B24BAE3765}"/>
              </c:ext>
            </c:extLst>
          </c:dPt>
          <c:cat>
            <c:strRef>
              <c:f>Sheet1!$A$2:$A$3</c:f>
              <c:strCache>
                <c:ptCount val="2"/>
                <c:pt idx="0">
                  <c:v>Sem readmissão &lt;30d</c:v>
                </c:pt>
                <c:pt idx="1">
                  <c:v>Readmissão &lt;30d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88.84</c:v>
                </c:pt>
                <c:pt idx="1">
                  <c:v>11.16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D3-43B1-9E34-E1B24BAE37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Importância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Internamentos prévios</c:v>
                </c:pt>
                <c:pt idx="1">
                  <c:v>Tipo de alta</c:v>
                </c:pt>
                <c:pt idx="2">
                  <c:v>Idas à urgência</c:v>
                </c:pt>
                <c:pt idx="3">
                  <c:v>N.º diagnósticos</c:v>
                </c:pt>
                <c:pt idx="4">
                  <c:v>Dias internado</c:v>
                </c:pt>
                <c:pt idx="5">
                  <c:v>N.º medicamentos</c:v>
                </c:pt>
                <c:pt idx="6">
                  <c:v>N.º análises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0.13289999999999999</c:v>
                </c:pt>
                <c:pt idx="1">
                  <c:v>4.5900000000000003E-2</c:v>
                </c:pt>
                <c:pt idx="2">
                  <c:v>3.6799999999999999E-2</c:v>
                </c:pt>
                <c:pt idx="3">
                  <c:v>2.41E-2</c:v>
                </c:pt>
                <c:pt idx="4">
                  <c:v>2.3800000000000002E-2</c:v>
                </c:pt>
                <c:pt idx="5">
                  <c:v>2.07E-2</c:v>
                </c:pt>
                <c:pt idx="6">
                  <c:v>1.83E-2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41-42CB-BAC1-E7486EF53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82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4D1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6E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Regressão Logística</c:v>
                </c:pt>
              </c:strCache>
            </c:strRef>
          </c:tx>
          <c:spPr>
            <a:solidFill>
              <a:srgbClr val="D4D1C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Recall</c:v>
                </c:pt>
                <c:pt idx="2">
                  <c:v>Precisão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0.66039999999999999</c:v>
                </c:pt>
                <c:pt idx="1">
                  <c:v>2.7699999999999999E-2</c:v>
                </c:pt>
                <c:pt idx="2">
                  <c:v>0.3987</c:v>
                </c:pt>
                <c:pt idx="3">
                  <c:v>5.1900000000000002E-2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C1-4C13-A487-62D20DA276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Rede Neural Keras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Recall</c:v>
                </c:pt>
                <c:pt idx="2">
                  <c:v>Precisão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0.64629999999999999</c:v>
                </c:pt>
                <c:pt idx="1">
                  <c:v>0.29409999999999997</c:v>
                </c:pt>
                <c:pt idx="2">
                  <c:v>0.22159999999999999</c:v>
                </c:pt>
                <c:pt idx="3">
                  <c:v>0.25280000000000002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1-4C13-A487-62D20DA27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82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12700" cap="flat">
              <a:solidFill>
                <a:srgbClr val="D4D1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6E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149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O problema que procurámos responder foi a dificuldade em antecipar, de forma atempada, quais os doentes com maior probabilidade de voltar a ser internados num curto espaço de tempo. No caso da diabetes, esta questão ganha ainda mais importância porque estamos perante trajetórias clínicas complexas, com risco heterogéneo e necessidade frequente de seguimento. O objetivo do trabalho foi, por isso, prever a probabilidade de readmissão hospitalar em menos de 30 dias, identificar fatores explicativos do risco e comparar modelos com perfis diferentes, nomeadamente um mais interpretável e outro mais flexível. A ideia não é substituir a decisão clínica, mas fornecer um instrumento de apoio à priorização e à intervenção.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Neste slide apresento a base de dados usada no projeto. Trata-se do </a:t>
            </a:r>
            <a:r>
              <a:rPr lang="pt-PT" dirty="0" err="1"/>
              <a:t>dataset</a:t>
            </a:r>
            <a:r>
              <a:rPr lang="pt-PT" dirty="0"/>
              <a:t> Diabetes 130-US </a:t>
            </a:r>
            <a:r>
              <a:rPr lang="pt-PT" dirty="0" err="1"/>
              <a:t>Hospitals</a:t>
            </a:r>
            <a:r>
              <a:rPr lang="pt-PT" dirty="0"/>
              <a:t>, com 101 766 registos e 53 variáveis originais, contendo informação demográfica, clínica, terapêutica e administrativa. A classe positiva corresponde a readmissão em menos de 30 dias, e os dados foram divididos em treino e teste numa proporção de 80/20. É importante destacar que, para algumas variáveis categóricas, foi utilizado um ficheiro de mapeamento para tornar os códigos mais interpretáveis, nomeadamente em </a:t>
            </a:r>
            <a:r>
              <a:rPr lang="pt-PT" dirty="0" err="1"/>
              <a:t>admission</a:t>
            </a:r>
            <a:r>
              <a:rPr lang="pt-PT" dirty="0"/>
              <a:t> </a:t>
            </a:r>
            <a:r>
              <a:rPr lang="pt-PT" dirty="0" err="1"/>
              <a:t>type</a:t>
            </a:r>
            <a:r>
              <a:rPr lang="pt-PT" dirty="0"/>
              <a:t>, </a:t>
            </a:r>
            <a:r>
              <a:rPr lang="pt-PT" dirty="0" err="1"/>
              <a:t>discharge</a:t>
            </a:r>
            <a:r>
              <a:rPr lang="pt-PT" dirty="0"/>
              <a:t> </a:t>
            </a:r>
            <a:r>
              <a:rPr lang="pt-PT" dirty="0" err="1"/>
              <a:t>disposition</a:t>
            </a:r>
            <a:r>
              <a:rPr lang="pt-PT" dirty="0"/>
              <a:t> e </a:t>
            </a:r>
            <a:r>
              <a:rPr lang="pt-PT" dirty="0" err="1"/>
              <a:t>admission</a:t>
            </a:r>
            <a:r>
              <a:rPr lang="pt-PT" dirty="0"/>
              <a:t> </a:t>
            </a:r>
            <a:r>
              <a:rPr lang="pt-PT" dirty="0" err="1"/>
              <a:t>source</a:t>
            </a:r>
            <a:r>
              <a:rPr lang="pt-PT" dirty="0"/>
              <a:t>. No </a:t>
            </a:r>
            <a:r>
              <a:rPr lang="pt-PT" dirty="0" err="1"/>
              <a:t>notebook</a:t>
            </a:r>
            <a:r>
              <a:rPr lang="pt-PT" dirty="0"/>
              <a:t> os dados foram lidos em blocos para eficiência de memória, enquanto no </a:t>
            </a:r>
            <a:r>
              <a:rPr lang="pt-PT" dirty="0" err="1"/>
              <a:t>dashboard</a:t>
            </a:r>
            <a:r>
              <a:rPr lang="pt-PT" dirty="0"/>
              <a:t> foram preparados para exploração interativa e treino dos modelos.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 fase de preparação foi essencial para tornar o problema treinável e garantir comparabilidade entre modelos. Numa primeira etapa, foram removidos identificadores sem valor preditivo direto, como </a:t>
            </a:r>
            <a:r>
              <a:rPr lang="pt-PT" dirty="0" err="1"/>
              <a:t>encounter_id</a:t>
            </a:r>
            <a:r>
              <a:rPr lang="pt-PT" dirty="0"/>
              <a:t> e </a:t>
            </a:r>
            <a:r>
              <a:rPr lang="pt-PT" dirty="0" err="1"/>
              <a:t>patient_nbr</a:t>
            </a:r>
            <a:r>
              <a:rPr lang="pt-PT" dirty="0"/>
              <a:t>, e foram eliminadas colunas com muitos valores em falta, como </a:t>
            </a:r>
            <a:r>
              <a:rPr lang="pt-PT" dirty="0" err="1"/>
              <a:t>weight</a:t>
            </a:r>
            <a:r>
              <a:rPr lang="pt-PT" dirty="0"/>
              <a:t>, </a:t>
            </a:r>
            <a:r>
              <a:rPr lang="pt-PT" dirty="0" err="1"/>
              <a:t>payer_code</a:t>
            </a:r>
            <a:r>
              <a:rPr lang="pt-PT" dirty="0"/>
              <a:t> e </a:t>
            </a:r>
            <a:r>
              <a:rPr lang="pt-PT" dirty="0" err="1"/>
              <a:t>medical_specialty</a:t>
            </a:r>
            <a:r>
              <a:rPr lang="pt-PT" dirty="0"/>
              <a:t>. Depois, os escalões etários foram convertidos em valores numéricos médios para permitir o seu uso nos modelos. Também foi feita imputação pela moda em variáveis-chave e uma redução de cardinalidade dos diagnósticos, mantendo apenas os valores mais frequentes. Por fim, aplicou-se </a:t>
            </a:r>
            <a:r>
              <a:rPr lang="pt-PT" dirty="0" err="1"/>
              <a:t>one</a:t>
            </a:r>
            <a:r>
              <a:rPr lang="pt-PT" dirty="0"/>
              <a:t>-hot </a:t>
            </a:r>
            <a:r>
              <a:rPr lang="pt-PT" dirty="0" err="1"/>
              <a:t>encoding</a:t>
            </a:r>
            <a:r>
              <a:rPr lang="pt-PT" dirty="0"/>
              <a:t>, normalização e divisão estratificada em treino e teste, garantindo que a proporção entre classes se mantinha estável.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Aqui vemos um dos principais desafios do problema: o forte desequilíbrio entre classes. Apenas 11,16% dos casos correspondem a readmissão precoce, enquanto 88,84% pertencem à classe negativa. Isto significa que métricas globais como a </a:t>
            </a:r>
            <a:r>
              <a:rPr lang="pt-PT" dirty="0" err="1"/>
              <a:t>accuracy</a:t>
            </a:r>
            <a:r>
              <a:rPr lang="pt-PT" dirty="0"/>
              <a:t>, quando analisadas isoladamente, podem ser enganadoras, porque um modelo pode parecer bom apenas por acertar na maioria dos casos negativos. Em contexto de saúde, o que interessa muitas vezes é identificar o maior número possível de casos de risco, mesmo que isso implique algum custo em termos de precisão. Por isso, esta distribuição justifica a escolha de métricas e estratégias de treino mais adequadas ao problema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 análise exploratória mostrou que boa parte do sinal preditivo parece estar concentrada no histórico de utilização hospitalar. Verificou-se, por exemplo, uma maior representatividade dos grupos etários mais velhos, com destaque para a faixa entre os 70 e os 80 anos. Já ao nível da raça, as taxas de readmissão observadas foram relativamente próximas entre grupos, o que sugere que essa variável, por si só, não explica grandes diferenças. A principal leitura analítica deste slide é que variáveis relacionadas com internamentos prévios, urgência e tempo de internamento parecem conter mais informação útil para prever o risco. Ou seja, o percurso clínico anterior do doente surge como um fator particularmente relevante.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Neste slide analisamos quais foram as variáveis mais influentes segundo o </a:t>
            </a:r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Forest</a:t>
            </a:r>
            <a:r>
              <a:rPr lang="pt-PT" dirty="0"/>
              <a:t>. O resultado mais forte foi o número de internamentos prévios, que surge claramente como o principal sinal de risco. Em seguida, aparece o tipo de alta, o que também faz sentido do ponto de vista clínico, porque pode refletir a condição do doente no momento em que sai do hospital. Outras variáveis relevantes incluem indicadores de urgência, número de diagnósticos e tempo de internamento, que em conjunto reforçam a ideia de maior complexidade clínica. A mensagem principal é que o modelo não está apenas a captar ruído: está a reconhecer padrões coerentes com a experiência hospitalar e com a evolução clínica dos doentes.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Foram comparados dois modelos com características diferentes. A regressão logística foi usada como </a:t>
            </a:r>
            <a:r>
              <a:rPr lang="pt-PT" dirty="0" err="1"/>
              <a:t>baseline</a:t>
            </a:r>
            <a:r>
              <a:rPr lang="pt-PT" dirty="0"/>
              <a:t> por ser simples, estável e facilmente interpretável, sendo útil como referência para perceber o que se ganha ou perde ao passar para modelos mais complexos. No </a:t>
            </a:r>
            <a:r>
              <a:rPr lang="pt-PT" dirty="0" err="1"/>
              <a:t>dashboard</a:t>
            </a:r>
            <a:r>
              <a:rPr lang="pt-PT" dirty="0"/>
              <a:t>, este modelo foi treinado com </a:t>
            </a:r>
            <a:r>
              <a:rPr lang="pt-PT" dirty="0" err="1"/>
              <a:t>class_weight</a:t>
            </a:r>
            <a:r>
              <a:rPr lang="pt-PT" dirty="0"/>
              <a:t> igual a </a:t>
            </a:r>
            <a:r>
              <a:rPr lang="pt-PT" dirty="0" err="1"/>
              <a:t>balanced</a:t>
            </a:r>
            <a:r>
              <a:rPr lang="pt-PT" dirty="0"/>
              <a:t>, precisamente para lidar melhor com o desequilíbrio entre classes. A segunda abordagem foi uma rede neural em </a:t>
            </a:r>
            <a:r>
              <a:rPr lang="pt-PT" dirty="0" err="1"/>
              <a:t>Keras</a:t>
            </a:r>
            <a:r>
              <a:rPr lang="pt-PT" dirty="0"/>
              <a:t>, com arquitetura densa, </a:t>
            </a:r>
            <a:r>
              <a:rPr lang="pt-PT" dirty="0" err="1"/>
              <a:t>Batch</a:t>
            </a:r>
            <a:r>
              <a:rPr lang="pt-PT" dirty="0"/>
              <a:t> </a:t>
            </a:r>
            <a:r>
              <a:rPr lang="pt-PT" dirty="0" err="1"/>
              <a:t>Normalization</a:t>
            </a:r>
            <a:r>
              <a:rPr lang="pt-PT" dirty="0"/>
              <a:t> e </a:t>
            </a:r>
            <a:r>
              <a:rPr lang="pt-PT" dirty="0" err="1"/>
              <a:t>Dropout</a:t>
            </a:r>
            <a:r>
              <a:rPr lang="pt-PT" dirty="0"/>
              <a:t>, além de </a:t>
            </a:r>
            <a:r>
              <a:rPr lang="pt-PT" dirty="0" err="1"/>
              <a:t>class</a:t>
            </a:r>
            <a:r>
              <a:rPr lang="pt-PT" dirty="0"/>
              <a:t> </a:t>
            </a:r>
            <a:r>
              <a:rPr lang="pt-PT" dirty="0" err="1"/>
              <a:t>weights</a:t>
            </a:r>
            <a:r>
              <a:rPr lang="pt-PT" dirty="0"/>
              <a:t> e </a:t>
            </a:r>
            <a:r>
              <a:rPr lang="pt-PT" dirty="0" err="1"/>
              <a:t>early</a:t>
            </a:r>
            <a:r>
              <a:rPr lang="pt-PT" dirty="0"/>
              <a:t> </a:t>
            </a:r>
            <a:r>
              <a:rPr lang="pt-PT" dirty="0" err="1"/>
              <a:t>stopping</a:t>
            </a:r>
            <a:r>
              <a:rPr lang="pt-PT" dirty="0"/>
              <a:t> monitorizado por </a:t>
            </a:r>
            <a:r>
              <a:rPr lang="pt-PT" dirty="0" err="1"/>
              <a:t>validation</a:t>
            </a:r>
            <a:r>
              <a:rPr lang="pt-PT" dirty="0"/>
              <a:t> AUC para reduzir </a:t>
            </a:r>
            <a:r>
              <a:rPr lang="pt-PT" dirty="0" err="1"/>
              <a:t>overfitting</a:t>
            </a:r>
            <a:r>
              <a:rPr lang="pt-PT" dirty="0"/>
              <a:t>. Assim, este slide mostra que a comparação não foi apenas técnica, mas também conceptual: </a:t>
            </a:r>
            <a:r>
              <a:rPr lang="pt-PT" dirty="0" err="1"/>
              <a:t>interpretabilidade</a:t>
            </a:r>
            <a:r>
              <a:rPr lang="pt-PT" dirty="0"/>
              <a:t> versus sensibilidade na deteção do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Os resultados mostram que a escolha do melhor modelo depende do objetivo prático da aplicação. A regressão logística obteve um ROC-AUC ligeiramente superior, o que indica boa capacidade de separação global entre classes. No entanto, revelou uma limitação importante: quase não identificou a classe positiva. Já a rede neural apresentou um </a:t>
            </a:r>
            <a:r>
              <a:rPr lang="pt-PT" dirty="0" err="1"/>
              <a:t>recall</a:t>
            </a:r>
            <a:r>
              <a:rPr lang="pt-PT" dirty="0"/>
              <a:t> bastante superior, passando de 2,77% para 29,41%, embora com menor precisão. Num cenário clínico, esta diferença é muito relevante, porque muitas vezes é preferível sinalizar mais doentes potencialmente em risco, mesmo aceitando mais falsos positivos. Assim, a leitura crítica deste slide é que a rede neural se mostra mais útil para triagem e sinalização de risco, enquanto a regressão logística preserva valor como modelo de referência interpretável.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Para concluir, este trabalho confirmou que a predição de readmissão precoce é um problema difícil, sobretudo devido ao forte desequilíbrio entre classes. Também mostrou que métricas globais, como a </a:t>
            </a:r>
            <a:r>
              <a:rPr lang="pt-PT" dirty="0" err="1"/>
              <a:t>accuracy</a:t>
            </a:r>
            <a:r>
              <a:rPr lang="pt-PT" dirty="0"/>
              <a:t>, não são suficientes para avaliar utilidade real em contexto de saúde. A rede neural demonstrou maior capacidade para sinalizar doentes em risco, enquanto a regressão logística continua a ser importante pela sua simplicidade e </a:t>
            </a:r>
            <a:r>
              <a:rPr lang="pt-PT" dirty="0" err="1"/>
              <a:t>interpretabilidade</a:t>
            </a:r>
            <a:r>
              <a:rPr lang="pt-PT" dirty="0"/>
              <a:t>. Como trabalho futuro, faria sentido ajustar o </a:t>
            </a:r>
            <a:r>
              <a:rPr lang="pt-PT" dirty="0" err="1"/>
              <a:t>threshold</a:t>
            </a:r>
            <a:r>
              <a:rPr lang="pt-PT" dirty="0"/>
              <a:t> de decisão, explorar técnicas de reamostragem e calibração, aprofundar a engenharia de variáveis e realizar validação adicional. Em suma, o projeto mostra que a inteligência artificial pode apoiar a gestão clínica, desde que os modelos sejam avaliados de acordo com o objetivo real de utilização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614"/>
          </a:solidFill>
          <a:ln w="12700">
            <a:solidFill>
              <a:srgbClr val="171614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28016" cy="3886200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868680" y="804672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Predição do Risco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3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Readmissão Hospitalar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86968" y="21214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de Applied Artificial Intelligence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06440" y="768096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1F1E1B"/>
          </a:solidFill>
          <a:ln w="12700">
            <a:solidFill>
              <a:srgbClr val="39383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016752" y="932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16752" y="11338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Superior de Gestão e Tecnologia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 de Santarém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880360"/>
            <a:ext cx="4206240" cy="1060704"/>
          </a:xfrm>
          <a:prstGeom prst="roundRect">
            <a:avLst>
              <a:gd name="adj" fmla="val 6897"/>
            </a:avLst>
          </a:prstGeom>
          <a:solidFill>
            <a:srgbClr val="1F1E1B"/>
          </a:solidFill>
          <a:ln w="12700">
            <a:solidFill>
              <a:srgbClr val="39383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327355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Mendes · 250001162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Calado · 250001513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Amorim · 120118010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16752" y="2148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Prof. Maryam Abbasi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e objetivo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readmissões precoces pode apoiar decisões clínicas e gestão hospitalar.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794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26280" y="1508760"/>
            <a:ext cx="4114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Porque é importante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2029968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readmissão em menos de 30 dias é um indicador relevante de qualidade assistencial.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Doentes com diabetes apresentam trajetórias clínicas complexas e risco heterogéneo.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preditivos podem ajudar a priorizar seguimento e intervenção.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73168" y="1737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do trabalho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73168" y="2029968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probabilidade de readmissão hospitalar em menos de 30 dias.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variáveis clínicas e administrativas com maior influência no risco.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modelos com diferentes perfis: interpretável vs. mais flexível.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utilizado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hospitalar com informação clínica, terapêutica e administrativa.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67512" y="160020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101 766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67512" y="199339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registos na base original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7168" y="14173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2651760" y="160020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651760" y="1993392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originais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5656" y="14173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4270248" y="160020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270248" y="1993392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treino/teste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07024" y="14173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6071616" y="160020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&lt;30 dias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071616" y="1993392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positiva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578608"/>
            <a:ext cx="3794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713232" y="2816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Origem e conteúdo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3232" y="309067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Diabetes 130-US Hospitals.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idade, género, raça, diagnósticos, medicação, exames e histórico hospitalar.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utilizado um ficheiro de mapeamento para descodificar admission type, discharge disposition e admission source.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26280" y="2578608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736592" y="2816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dos dados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36592" y="30906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notebook, a leitura foi feita em blocos para maior eficiência de memória.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dashboard, os dados são carregados e preparados para exploração interativa e treino dos modelos.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Limpeza e transformação dos dados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da preparação foi determinante para tornar o problema treinável e comparável.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72000" y="1508760"/>
            <a:ext cx="40690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Tratamento inicial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00600" y="17373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Preparação para modelação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identificadores como encounter_id e patient_nbr.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de colunas com elevada percentagem de valores em falta, como weight, payer_code e medical_specialty.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dos escalões etários em valores numéricos médios.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Imputação pela moda em variáveis-chave, como race e diag_1, diag_2, diag_3.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cardinalidade dos diagnósticos, mantendo os 20 valores mais frequentes.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encoding, normalização e divisão estratificada em treino e teste.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Distribuição da variável-alvo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principal desafio do problema é o forte desequilíbrio entre classes.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7947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72000" y="1417320"/>
            <a:ext cx="40690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graphicFrame>
        <p:nvGraphicFramePr>
          <p:cNvPr id="7" name="Chart 0"/>
          <p:cNvGraphicFramePr/>
          <p:nvPr/>
        </p:nvGraphicFramePr>
        <p:xfrm>
          <a:off x="804672" y="1810512"/>
          <a:ext cx="28346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1737360" y="23408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11,16%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719072" y="26883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readmissão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800600" y="1700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do resultado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800600" y="1993392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casos pertence à classe sem readmissão precoce.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accuracy isolada pode ser enganadora neste contexto.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saúde, interessa sinalizar mais casos de risco.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00600" y="3072384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0"/>
          <p:cNvSpPr/>
          <p:nvPr/>
        </p:nvSpPr>
        <p:spPr>
          <a:xfrm>
            <a:off x="4965192" y="325526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88,84%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965192" y="36484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negativa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19088" y="3072384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3"/>
          <p:cNvSpPr/>
          <p:nvPr/>
        </p:nvSpPr>
        <p:spPr>
          <a:xfrm>
            <a:off x="6583680" y="325526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11,16%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583680" y="36484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positiva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Principais observações exploratórias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 de utilização hospitalar parece concentrar boa parte do sinal preditivo.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200400" y="1481328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6080760" y="1481328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Perfil etário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2996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grupos etários mais velhos estão mais representados no dataset.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notebook, a faixa [70-80) é a mais frequente.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755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Taxa por raça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029968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taxas observadas são relativamente próximas entre grupos.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Caucasian 11,29%, AfricanAmerican 11,22%, Hispanic 10,41%.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755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analítica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0299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ligadas a internamentos prévios, urgência e tempo de internamento parecem mais informativas.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útil vem sobretudo do percurso clínico do doente.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Variáveis com maior influência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Random Forest destaca sobretudo o histórico de contacto hospitalar como sinal de risco.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846320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5532120" y="1417320"/>
            <a:ext cx="3108960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graphicFrame>
        <p:nvGraphicFramePr>
          <p:cNvPr id="7" name="Chart 0"/>
          <p:cNvGraphicFramePr/>
          <p:nvPr/>
        </p:nvGraphicFramePr>
        <p:xfrm>
          <a:off x="713232" y="1783080"/>
          <a:ext cx="43434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742432" y="17190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Interpretação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42432" y="199339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internamentos prévios é a variável dominante.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de alta surge como segundo sinal mais relevante.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Urgência, número de diagnósticos e tempo de internamento reforçam o padrão de complexidade clínica.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avaliados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comparadas abordagens com diferentes vantagens em interpretabilidade e sensibilidade.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840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40690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Regressão Logística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0574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baseline simples, estável e interpretável.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 foi treinado com class_weight = balanced.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como referência para perceber limites e vantagens de modelos mais complexos.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8032" y="17556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 Neural Keras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28032" y="20574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densa com Batch Normalization e Dropout.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class weights para compensar o desequilíbrio 89% / 11%.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monitorizado por validation AUC para reduzir overfitting.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Comparação de desempenho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do melhor modelo depende da prioridade: interpretar melhor ou detetar mais casos de risco.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663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5394960" y="137160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graphicFrame>
        <p:nvGraphicFramePr>
          <p:cNvPr id="7" name="Chart 0"/>
          <p:cNvGraphicFramePr/>
          <p:nvPr/>
        </p:nvGraphicFramePr>
        <p:xfrm>
          <a:off x="731520" y="1737360"/>
          <a:ext cx="41605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650992" y="17007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crítica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50992" y="199339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regressão logística atinge ROC-AUC ligeiramente superior, mas quase não identifica a classe positiva.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neural aumenta o recall de 2,77% para 29,41%, com menor precisão.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cenário clínico, o recall tende a ser mais relevante do que a accuracy isolada.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Conclusões e próximos passos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1060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final do trabalho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21792" y="164592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F1E1B"/>
          </a:solidFill>
          <a:ln w="12700">
            <a:solidFill>
              <a:srgbClr val="39383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4617720" y="164592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F1E1B"/>
          </a:solidFill>
          <a:ln w="12700">
            <a:solidFill>
              <a:srgbClr val="39383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Conclusões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é fortemente desequilibrado, o que limita métricas globais como accuracy.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neural mostrou maior utilidade para sinalização de risco.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regressão logística mantém valor como baseline interpretável.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64608" y="1901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1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Trabalho futuro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64608" y="2176272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do threshold de decisão.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reamostragem e calibração.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variáveis e validação adicional.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4370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5537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Applied Artificial Intelligence · Instituto Politécnico de Santarém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2035</Words>
  <Application>Microsoft Office PowerPoint</Application>
  <PresentationFormat>Apresentação no Ecrã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Perplexity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Predição do Risco de Readmissão Hospitalar</dc:title>
  <dc:subject>Predição do risco de readmissão hospitalar</dc:subject>
  <dc:creator>Perplexity Computer</dc:creator>
  <cp:lastModifiedBy>Tiago Amorim</cp:lastModifiedBy>
  <cp:revision>2</cp:revision>
  <dcterms:created xsi:type="dcterms:W3CDTF">2026-04-03T13:13:54Z</dcterms:created>
  <dcterms:modified xsi:type="dcterms:W3CDTF">2026-04-12T14:41:45Z</dcterms:modified>
</cp:coreProperties>
</file>