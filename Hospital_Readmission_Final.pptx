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Sem readmissão precoce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DE3E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Classe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88.84</c:v>
                </c:pt>
              </c:numCache>
            </c:numRef>
          </c:val>
        </c:ser>
        <c:firstSliceAng val="27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Nesta apresentação vamos abordar a predição do risco de readmissão hospitalar precoce, com foco em doentes com diabetes. O objetivo central foi perceber se é possível antecipar readmissões em menos de 30 dias a partir de dados clínicos, terapêuticos e administrativos. A ideia não é substituir a decisão clínica, mas apoiar a priorização do acompanhamento e a gestão hospitalar.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Neste slide apresento o problema que motivou o trabalho. A readmissão precoce é relevante porque pode indicar fragilidade clínica, necessidade de seguimento ou problemas na transição de cuidados. No caso dos doentes com diabetes, o risco é particularmente variável. Por isso, o objetivo foi construir modelos que ajudassem a prever a readmissão em menos de 30 dias e, ao mesmo tempo, perceber que variáveis explicam melhor esse risco.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apresenta o dataset utilizado. A base contém 101 766 registos e 53 variáveis originais, com informação demográfica, clínica, terapêutica e administrativa. A classe positiva corresponde à readmissão em menos de 30 dias. É importante referir que algumas variáveis estavam codificadas, por isso foi usado um ficheiro de mapeamento para melhorar a interpretação de admission type, discharge disposition e admission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preparação dos dados foi uma das etapas mais importantes. Foram removidos identificadores como encounter_id e patient_nbr, bem como colunas com muitos valores em falta, por exemplo weight, payer_code e medical_specialty. Também foi feita conversão dos escalões etários, imputação pela moda, redução da cardinalidade dos diagnósticos e codificação das variáveis categóricas. No fim, os dados ficaram prontos para treino e teste de forma comparável.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um dos principais desafios do projeto: o forte desequilíbrio da variável-alvo. Apenas cerca de 11,16% dos casos correspondem a readmissão precoce. Isto significa que um modelo pode ter uma accuracy aparentemente elevada apenas por prever a classe maioritária. Por isso, neste problema não basta olhar para a accuracy; é essencial observar métricas como recall e ROC-AUC, porque em saúde a identificação dos casos de risco é particularmente importante.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análise exploratória mostra que o sinal preditivo não está concentrado apenas em características demográficas. O que parece ter mais peso é o percurso clínico recente do doente: internamentos prévios, episódios de urgência, tempo de internamento e número de diagnósticos. Isto é coerente com o contexto hospitalar, porque um doente com maior utilização prévia dos serviços tende a apresentar maior complexidade clínica e maior risco de readmissão.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Neste slide interpretamos as variáveis mais influentes. A variável number_inpatient surge como dominante, o que significa que o histórico de internamentos prévios tem muito peso na previsão. Também aparecem variáveis associadas ao tipo de alta, tipo de admissão, número de diagnósticos e tempo de internamento. Em conjunto, estas variáveis apontam para um padrão claro: quanto maior a complexidade e contacto hospitalar recente, maior tende a ser o risco de readmissão.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Foram avaliados dois modelos com perfis diferentes. A regressão logística funciona como baseline: é simples, estável e fácil de interpretar. A rede neural é mais flexível e pode captar relações mais complexas, mas exige maior cuidado para evitar overfitting. Em ambos os casos, o desequilíbrio das classes foi tratado com pesos, para dar maior atenção à classe minoritária, que é precisamente a readmissão em menos de 30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resultados mostram que a escolha do melhor modelo depende do objetivo. A regressão logística apresenta boa separação global, mas identifica muito poucos casos positivos, com recall de 2,77%. A rede neural aumenta o recall para 29,41%, embora com menor precisão. Num contexto clínico, esta diferença é relevante, porque pode ser preferível sinalizar mais doentes em risco e depois confirmar clinicamente, em vez de deixar passar casos relevantes.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fica como apoio para uma demonstração final, caso haja tempo. A ideia é abrir o dashboard e mostrar primeiro a visão geral dos dados, depois a distribuição da classe-alvo e, por fim, a comparação dos modelos e a importância das variáveis. A demo ajuda a transformar a apresentação num exemplo prático e mostra que o trabalho não ficou apenas no notebook, podendo ser explorado de forma interativa.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concluir, este trabalho mostrou que a predição de readmissão precoce é possível, mas é um problema difícil devido ao desequilíbrio entre classes. A rede neural revelou-se mais útil para sinalizar risco, enquanto a regressão logística continua importante pela sua interpretabilidade. Como próximos passos, seria importante ajustar o threshold de decisão, testar técnicas de reamostragem, calibrar probabilidades e validar os modelos com maior robustez. A mensagem final é que a inteligência artificial pode apoiar decisões clínicas, desde que seja interpretada com cuidado e avaliada com métricas adequadas.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501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992A3"/>
          </a:solidFill>
          <a:ln w="12700">
            <a:solidFill>
              <a:srgbClr val="2992A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914400"/>
            <a:ext cx="580644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Predição do Risco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Readmissão Hospitalar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9808" y="2240280"/>
            <a:ext cx="5029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7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final · Applied Artificial Intelligence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816352"/>
            <a:ext cx="53035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Antecipar readmissões em menos de 30 dias para apoiar decisões clínicas, seguimento e gestão hospitalar.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040880" y="100584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1005840"/>
            <a:ext cx="73152" cy="731520"/>
          </a:xfrm>
          <a:prstGeom prst="rect">
            <a:avLst/>
          </a:prstGeom>
          <a:solidFill>
            <a:srgbClr val="2992A3"/>
          </a:solidFill>
          <a:ln w="12700">
            <a:solidFill>
              <a:srgbClr val="2992A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42048" y="1133856"/>
            <a:ext cx="17647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101 766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242048" y="1463040"/>
            <a:ext cx="17647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registos hospitalares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9281160" y="100584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81160" y="1005840"/>
            <a:ext cx="73152" cy="731520"/>
          </a:xfrm>
          <a:prstGeom prst="rect">
            <a:avLst/>
          </a:prstGeom>
          <a:solidFill>
            <a:srgbClr val="3B6FB8"/>
          </a:solidFill>
          <a:ln w="12700">
            <a:solidFill>
              <a:srgbClr val="3B6FB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2328" y="1133856"/>
            <a:ext cx="17647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482328" y="1463040"/>
            <a:ext cx="17647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variáveis originais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040880" y="1993392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1993392"/>
            <a:ext cx="73152" cy="731520"/>
          </a:xfrm>
          <a:prstGeom prst="rect">
            <a:avLst/>
          </a:prstGeom>
          <a:solidFill>
            <a:srgbClr val="E69138"/>
          </a:solidFill>
          <a:ln w="12700">
            <a:solidFill>
              <a:srgbClr val="E6913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42048" y="2121408"/>
            <a:ext cx="17647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&lt;30 dias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242048" y="2450592"/>
            <a:ext cx="17647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 positiva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281160" y="1993392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1993392"/>
            <a:ext cx="73152" cy="731520"/>
          </a:xfrm>
          <a:prstGeom prst="rect">
            <a:avLst/>
          </a:prstGeom>
          <a:solidFill>
            <a:srgbClr val="3A9972"/>
          </a:solidFill>
          <a:ln w="12700">
            <a:solidFill>
              <a:srgbClr val="3A997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82328" y="2121408"/>
            <a:ext cx="17647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80/20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482328" y="2450592"/>
            <a:ext cx="17647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treino / teste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040880" y="3154680"/>
            <a:ext cx="4297680" cy="1408176"/>
          </a:xfrm>
          <a:prstGeom prst="roundRect">
            <a:avLst>
              <a:gd name="adj" fmla="val 5195"/>
            </a:avLst>
          </a:prstGeom>
          <a:solidFill>
            <a:srgbClr val="F8FAFD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96912" y="3401568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96912" y="3703320"/>
            <a:ext cx="3474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Isaac Mendes · 250001162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Rodrigo Calado · 250001513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Tiago Amorim · 120118010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9808" y="5961888"/>
            <a:ext cx="6583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Escola Superior de Gestão e Tecnologia · Instituto Politécnico de Santarém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Docente: Prof. Maryam Abbasi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503152" y="643737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9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5778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e objetivo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Readmissão precoce como desafio clínico, operacional e de qualidade assistencial.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6327648"/>
            <a:ext cx="11045952" cy="0"/>
          </a:xfrm>
          <a:prstGeom prst="line">
            <a:avLst/>
          </a:prstGeom>
          <a:noFill/>
          <a:ln w="9525">
            <a:solidFill>
              <a:srgbClr val="DDE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03152" y="643737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4846320" cy="3063240"/>
          </a:xfrm>
          <a:prstGeom prst="roundRect">
            <a:avLst>
              <a:gd name="adj" fmla="val 2388"/>
            </a:avLst>
          </a:prstGeom>
          <a:solidFill>
            <a:srgbClr val="F8FAFD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Porque é importante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87552" y="2267712"/>
            <a:ext cx="42062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readmissão em menos de 30 dias é um indicador relevante de qualidade assistencial.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Doentes com diabetes apresentam trajetórias clínicas complexas e risco heterogéneo.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Um modelo preditivo pode ajudar a priorizar seguimento e intervenção.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0120" y="3977640"/>
            <a:ext cx="4023360" cy="347472"/>
          </a:xfrm>
          <a:prstGeom prst="roundRect">
            <a:avLst>
              <a:gd name="adj" fmla="val 10526"/>
            </a:avLst>
          </a:prstGeom>
          <a:solidFill>
            <a:srgbClr val="2992A3"/>
          </a:solidFill>
          <a:ln w="12700">
            <a:solidFill>
              <a:srgbClr val="2992A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4032504"/>
            <a:ext cx="380390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Problema: sinalizar risco antes da readmissão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97880" y="150876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 do trabalho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27064" y="2267712"/>
            <a:ext cx="4572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Prever a probabilidade de readmissão hospitalar em menos de 30 dias.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Identificar variáveis clínicas e administrativas com maior influência no risco.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Comparar modelos com perfis diferentes: interpretabilidade versus flexibilidade.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09360" y="5120640"/>
            <a:ext cx="4389120" cy="0"/>
          </a:xfrm>
          <a:prstGeom prst="line">
            <a:avLst/>
          </a:prstGeom>
          <a:noFill/>
          <a:ln w="38100">
            <a:solidFill>
              <a:srgbClr val="DDE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5029200"/>
            <a:ext cx="182880" cy="182880"/>
          </a:xfrm>
          <a:prstGeom prst="ellipse">
            <a:avLst/>
          </a:prstGeom>
          <a:solidFill>
            <a:srgbClr val="2992A3"/>
          </a:solidFill>
          <a:ln w="12700">
            <a:solidFill>
              <a:srgbClr val="2992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5367528"/>
            <a:ext cx="1005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80960" y="5029200"/>
            <a:ext cx="182880" cy="182880"/>
          </a:xfrm>
          <a:prstGeom prst="ellipse">
            <a:avLst/>
          </a:prstGeom>
          <a:solidFill>
            <a:srgbClr val="3B6FB8"/>
          </a:solidFill>
          <a:ln w="12700">
            <a:solidFill>
              <a:srgbClr val="3B6F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5367528"/>
            <a:ext cx="1005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Preparação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0" y="5029200"/>
            <a:ext cx="182880" cy="182880"/>
          </a:xfrm>
          <a:prstGeom prst="ellipse">
            <a:avLst/>
          </a:prstGeom>
          <a:solidFill>
            <a:srgbClr val="E69138"/>
          </a:solidFill>
          <a:ln w="12700">
            <a:solidFill>
              <a:srgbClr val="E691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32520" y="5367528"/>
            <a:ext cx="1005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607040" y="5029200"/>
            <a:ext cx="182880" cy="182880"/>
          </a:xfrm>
          <a:prstGeom prst="ellipse">
            <a:avLst/>
          </a:prstGeom>
          <a:solidFill>
            <a:srgbClr val="3A9972"/>
          </a:solidFill>
          <a:ln w="12700">
            <a:solidFill>
              <a:srgbClr val="3A99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95560" y="5367528"/>
            <a:ext cx="1005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Interpretação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9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5778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utilizado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hospitalar com informação clínica, terapêutica e administrativa de doentes com diabetes.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6327648"/>
            <a:ext cx="11045952" cy="0"/>
          </a:xfrm>
          <a:prstGeom prst="line">
            <a:avLst/>
          </a:prstGeom>
          <a:noFill/>
          <a:ln w="9525">
            <a:solidFill>
              <a:srgbClr val="DDE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03152" y="643737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8FAFD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73152" cy="749808"/>
          </a:xfrm>
          <a:prstGeom prst="rect">
            <a:avLst/>
          </a:prstGeom>
          <a:solidFill>
            <a:srgbClr val="2992A3"/>
          </a:solidFill>
          <a:ln w="12700">
            <a:solidFill>
              <a:srgbClr val="2992A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636776"/>
            <a:ext cx="17190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101 766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32688" y="1965960"/>
            <a:ext cx="1719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registos na base original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2944368" y="150876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8FAFD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4368" y="1508760"/>
            <a:ext cx="73152" cy="749808"/>
          </a:xfrm>
          <a:prstGeom prst="rect">
            <a:avLst/>
          </a:prstGeom>
          <a:solidFill>
            <a:srgbClr val="3B6FB8"/>
          </a:solidFill>
          <a:ln w="12700">
            <a:solidFill>
              <a:srgbClr val="3B6FB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1636776"/>
            <a:ext cx="17190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45536" y="1965960"/>
            <a:ext cx="1719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variáveis originais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157216" y="150876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8FAFD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57216" y="1508760"/>
            <a:ext cx="73152" cy="749808"/>
          </a:xfrm>
          <a:prstGeom prst="rect">
            <a:avLst/>
          </a:prstGeom>
          <a:solidFill>
            <a:srgbClr val="3A9972"/>
          </a:solidFill>
          <a:ln w="12700">
            <a:solidFill>
              <a:srgbClr val="3A997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58384" y="1636776"/>
            <a:ext cx="17190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80/20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58384" y="1965960"/>
            <a:ext cx="1719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divisão treino/teste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370064" y="150876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8FAFD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70064" y="1508760"/>
            <a:ext cx="73152" cy="749808"/>
          </a:xfrm>
          <a:prstGeom prst="rect">
            <a:avLst/>
          </a:prstGeom>
          <a:solidFill>
            <a:srgbClr val="E69138"/>
          </a:solidFill>
          <a:ln w="12700">
            <a:solidFill>
              <a:srgbClr val="E6913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1232" y="1636776"/>
            <a:ext cx="17190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&lt;30 dias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71232" y="1965960"/>
            <a:ext cx="1719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 positiva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9582912" y="150876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8FAFD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82912" y="1508760"/>
            <a:ext cx="73152" cy="749808"/>
          </a:xfrm>
          <a:prstGeom prst="rect">
            <a:avLst/>
          </a:prstGeom>
          <a:solidFill>
            <a:srgbClr val="1D7685"/>
          </a:solidFill>
          <a:ln w="12700">
            <a:solidFill>
              <a:srgbClr val="1D768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0" y="1636776"/>
            <a:ext cx="17190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1999–2008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784080" y="1965960"/>
            <a:ext cx="1719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período de recolha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731520" y="274320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Origem e conteúdo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24128" y="3438144"/>
            <a:ext cx="44805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Dataset Diabetes 130-US Hospitals.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Inclui idade, género, raça, diagnósticos, medicação, exames e histórico hospitalar.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Ficheiro de mapeamento usado para descodificar admission type, discharge disposition e admission source.</a:t>
            </a:r>
            <a:endParaRPr lang="en-US" sz="1230" dirty="0"/>
          </a:p>
        </p:txBody>
      </p:sp>
      <p:sp>
        <p:nvSpPr>
          <p:cNvPr id="30" name="Shape 28"/>
          <p:cNvSpPr/>
          <p:nvPr/>
        </p:nvSpPr>
        <p:spPr>
          <a:xfrm>
            <a:off x="6172200" y="274320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8FAFD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técnica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73952" y="3438144"/>
            <a:ext cx="44805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notebook lê os dados em blocos para maior eficiência de memória.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dashboard permite carregar os dados e repetir exploração e treino de forma interativa.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variável-alvo separa readmissão precoce de todos os outros casos.</a:t>
            </a:r>
            <a:endParaRPr lang="en-US" sz="12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9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5778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Limpeza e transformação dos dados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qualidade da preparação foi decisiva para tornar o problema treinável e comparável.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6327648"/>
            <a:ext cx="11045952" cy="0"/>
          </a:xfrm>
          <a:prstGeom prst="line">
            <a:avLst/>
          </a:prstGeom>
          <a:noFill/>
          <a:ln w="9525">
            <a:solidFill>
              <a:srgbClr val="DDE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03152" y="643737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13232" y="1572768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828800"/>
            <a:ext cx="420624" cy="420624"/>
          </a:xfrm>
          <a:prstGeom prst="ellipse">
            <a:avLst/>
          </a:prstGeom>
          <a:solidFill>
            <a:srgbClr val="2992A3"/>
          </a:solidFill>
          <a:ln w="12700">
            <a:solidFill>
              <a:srgbClr val="2992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901952"/>
            <a:ext cx="4206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36192" y="1792224"/>
            <a:ext cx="3840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Limpeza inicial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2194560"/>
            <a:ext cx="37947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Remoção de identificadores sem valor preditivo direto.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Eliminação de colunas com muitos valores em falta.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6245352" y="1572768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8FAFD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73952" y="1828800"/>
            <a:ext cx="420624" cy="420624"/>
          </a:xfrm>
          <a:prstGeom prst="ellipse">
            <a:avLst/>
          </a:prstGeom>
          <a:solidFill>
            <a:srgbClr val="2992A3"/>
          </a:solidFill>
          <a:ln w="12700">
            <a:solidFill>
              <a:srgbClr val="2992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1901952"/>
            <a:ext cx="4206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68312" y="1792224"/>
            <a:ext cx="3840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Normalização semântica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86600" y="2194560"/>
            <a:ext cx="37947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Conversão dos escalões etários para valores médios.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Mapeamento dos códigos administrativos.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713232" y="3447288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" y="3703320"/>
            <a:ext cx="420624" cy="420624"/>
          </a:xfrm>
          <a:prstGeom prst="ellipse">
            <a:avLst/>
          </a:prstGeom>
          <a:solidFill>
            <a:srgbClr val="2992A3"/>
          </a:solidFill>
          <a:ln w="12700">
            <a:solidFill>
              <a:srgbClr val="2992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3776472"/>
            <a:ext cx="4206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36192" y="3666744"/>
            <a:ext cx="3840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Diagnósticos e imputação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54480" y="4069080"/>
            <a:ext cx="37947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Imputação pela moda em variáveis-chave.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Redução da cardinalidade dos diagnósticos.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6245352" y="3447288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8FAFD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73952" y="3703320"/>
            <a:ext cx="420624" cy="420624"/>
          </a:xfrm>
          <a:prstGeom prst="ellipse">
            <a:avLst/>
          </a:prstGeom>
          <a:solidFill>
            <a:srgbClr val="2992A3"/>
          </a:solidFill>
          <a:ln w="12700">
            <a:solidFill>
              <a:srgbClr val="2992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3776472"/>
            <a:ext cx="4206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68312" y="3666744"/>
            <a:ext cx="3840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Modelação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86600" y="4069080"/>
            <a:ext cx="37947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One-hot encoding e normalização.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Divisão estratificada em treino e teste.</a:t>
            </a:r>
            <a:endParaRPr lang="en-US" sz="1140" dirty="0"/>
          </a:p>
        </p:txBody>
      </p:sp>
      <p:sp>
        <p:nvSpPr>
          <p:cNvPr id="27" name="Shape 25"/>
          <p:cNvSpPr/>
          <p:nvPr/>
        </p:nvSpPr>
        <p:spPr>
          <a:xfrm>
            <a:off x="2926080" y="5257800"/>
            <a:ext cx="6309360" cy="384048"/>
          </a:xfrm>
          <a:prstGeom prst="roundRect">
            <a:avLst>
              <a:gd name="adj" fmla="val 9524"/>
            </a:avLst>
          </a:prstGeom>
          <a:solidFill>
            <a:srgbClr val="2992A3"/>
          </a:solidFill>
          <a:ln w="12700">
            <a:solidFill>
              <a:srgbClr val="2992A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35808" y="5312664"/>
            <a:ext cx="608990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matriz final pronta para treino e comparação de modelos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9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5778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Distribuição da variável-alvo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principal desafio do problema é o forte desequilíbrio entre classes.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6327648"/>
            <a:ext cx="11045952" cy="0"/>
          </a:xfrm>
          <a:prstGeom prst="line">
            <a:avLst/>
          </a:prstGeom>
          <a:noFill/>
          <a:ln w="9525">
            <a:solidFill>
              <a:srgbClr val="DDE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03152" y="643737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68680" y="1481328"/>
          <a:ext cx="425196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2331720" y="2971800"/>
            <a:ext cx="1371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11,16%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2331720" y="3429000"/>
            <a:ext cx="13716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 positiva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97880" y="1609344"/>
            <a:ext cx="51206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9632" y="1883664"/>
            <a:ext cx="2743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do resultado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236208" y="2331720"/>
            <a:ext cx="43891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maioria dos casos pertence à classe sem readmissão precoce.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accuracy isolada pode ser enganadora neste contexto.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 saúde, interessa sinalizar mais casos de risco, mesmo aceitando alguns falsos positivos.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Por isso, recall, ROC-AUC e estratégias de balanceamento tornam-se métricas centrais.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9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5778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Principais observações exploratórias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histórico de utilização hospitalar concentra boa parte do sinal preditivo.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6327648"/>
            <a:ext cx="11045952" cy="0"/>
          </a:xfrm>
          <a:prstGeom prst="line">
            <a:avLst/>
          </a:prstGeom>
          <a:noFill/>
          <a:ln w="9525">
            <a:solidFill>
              <a:srgbClr val="DDE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03152" y="643737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3401568" cy="3520440"/>
          </a:xfrm>
          <a:prstGeom prst="roundRect">
            <a:avLst>
              <a:gd name="adj" fmla="val 2151"/>
            </a:avLst>
          </a:prstGeom>
          <a:solidFill>
            <a:srgbClr val="F8FAFD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etário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8408" y="2267712"/>
            <a:ext cx="2743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Os grupos etários mais velhos estão mais representados.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faixa [70–80) surge como a mais frequente no notebook.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4407408" y="1508760"/>
            <a:ext cx="3401568" cy="352044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Taxa por grupos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0016" y="2267712"/>
            <a:ext cx="2743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 taxas por raça são relativamente próximas.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Isto sugere que a diferença não é explicada apenas por um fator demográfico.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8129016" y="1508760"/>
            <a:ext cx="3401568" cy="3520440"/>
          </a:xfrm>
          <a:prstGeom prst="roundRect">
            <a:avLst>
              <a:gd name="adj" fmla="val 2151"/>
            </a:avLst>
          </a:prstGeom>
          <a:solidFill>
            <a:srgbClr val="F8FAFD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3336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analítica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21624" y="2267712"/>
            <a:ext cx="2743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Internamentos prévios, urgência e tempo de internamento parecem mais informativos.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sinal útil vem sobretudo do percurso clínico recente do doente.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2011680" y="5330952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2992A3"/>
          </a:solidFill>
          <a:ln w="12700">
            <a:solidFill>
              <a:srgbClr val="2992A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21408" y="5385816"/>
            <a:ext cx="791870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Mensagem-chave: a trajetória clínica recente pesa mais do que variáveis isoladas.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9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IMPORTÂNCIA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5778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Variáveis com maior influência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Random Forest destaca sobretudo o histórico de contacto hospitalar como sinal de risco.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6327648"/>
            <a:ext cx="11045952" cy="0"/>
          </a:xfrm>
          <a:prstGeom prst="line">
            <a:avLst/>
          </a:prstGeom>
          <a:noFill/>
          <a:ln w="9525">
            <a:solidFill>
              <a:srgbClr val="DDE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03152" y="643737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2514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D3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number_inpatient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3566160" y="1709928"/>
            <a:ext cx="4572000" cy="164592"/>
          </a:xfrm>
          <a:prstGeom prst="roundRect">
            <a:avLst>
              <a:gd name="adj" fmla="val 22222"/>
            </a:avLst>
          </a:prstGeom>
          <a:solidFill>
            <a:srgbClr val="2992A3"/>
          </a:solidFill>
          <a:ln w="12700">
            <a:solidFill>
              <a:srgbClr val="2992A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03704"/>
            <a:ext cx="2514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D3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discharge_disposition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3566160" y="2221992"/>
            <a:ext cx="3383280" cy="164592"/>
          </a:xfrm>
          <a:prstGeom prst="roundRect">
            <a:avLst>
              <a:gd name="adj" fmla="val 22222"/>
            </a:avLst>
          </a:prstGeom>
          <a:solidFill>
            <a:srgbClr val="1D7685">
              <a:alpha val="75000"/>
            </a:srgbClr>
          </a:solidFill>
          <a:ln w="12700">
            <a:solidFill>
              <a:srgbClr val="2992A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15768"/>
            <a:ext cx="2514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D3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admission_type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3566160" y="2734056"/>
            <a:ext cx="2834640" cy="164592"/>
          </a:xfrm>
          <a:prstGeom prst="roundRect">
            <a:avLst>
              <a:gd name="adj" fmla="val 22222"/>
            </a:avLst>
          </a:prstGeom>
          <a:solidFill>
            <a:srgbClr val="1D7685">
              <a:alpha val="75000"/>
            </a:srgbClr>
          </a:solidFill>
          <a:ln w="12700">
            <a:solidFill>
              <a:srgbClr val="2992A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27832"/>
            <a:ext cx="2514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D3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number_diagnoses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3566160" y="3246120"/>
            <a:ext cx="2651760" cy="164592"/>
          </a:xfrm>
          <a:prstGeom prst="roundRect">
            <a:avLst>
              <a:gd name="adj" fmla="val 22222"/>
            </a:avLst>
          </a:prstGeom>
          <a:solidFill>
            <a:srgbClr val="1D7685">
              <a:alpha val="75000"/>
            </a:srgbClr>
          </a:solidFill>
          <a:ln w="12700">
            <a:solidFill>
              <a:srgbClr val="2992A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39896"/>
            <a:ext cx="2514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D3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time_in_hospital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3566160" y="3758184"/>
            <a:ext cx="2331720" cy="164592"/>
          </a:xfrm>
          <a:prstGeom prst="roundRect">
            <a:avLst>
              <a:gd name="adj" fmla="val 22222"/>
            </a:avLst>
          </a:prstGeom>
          <a:solidFill>
            <a:srgbClr val="1D7685">
              <a:alpha val="75000"/>
            </a:srgbClr>
          </a:solidFill>
          <a:ln w="12700">
            <a:solidFill>
              <a:srgbClr val="2992A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51960"/>
            <a:ext cx="2514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D3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num_emergency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3566160" y="4270248"/>
            <a:ext cx="2103120" cy="164592"/>
          </a:xfrm>
          <a:prstGeom prst="roundRect">
            <a:avLst>
              <a:gd name="adj" fmla="val 22222"/>
            </a:avLst>
          </a:prstGeom>
          <a:solidFill>
            <a:srgbClr val="1D7685">
              <a:alpha val="75000"/>
            </a:srgbClr>
          </a:solidFill>
          <a:ln w="12700">
            <a:solidFill>
              <a:srgbClr val="2992A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16002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8FAFD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Interpretação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42248" y="2304288"/>
            <a:ext cx="20574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Internamentos prévios surgem como sinal dominante.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Tipo de alta e admissão acrescentam contexto clínico.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Diagnósticos e duração do internamento reforçam a complexidade.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9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5778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Modelos avaliados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Foram comparadas abordagens com vantagens diferentes em interpretabilidade e sensibilidade.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6327648"/>
            <a:ext cx="11045952" cy="0"/>
          </a:xfrm>
          <a:prstGeom prst="line">
            <a:avLst/>
          </a:prstGeom>
          <a:noFill/>
          <a:ln w="9525">
            <a:solidFill>
              <a:srgbClr val="DDE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03152" y="643737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13232" y="1600200"/>
            <a:ext cx="525780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828800"/>
            <a:ext cx="4800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 Logística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258568"/>
            <a:ext cx="480060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Modelo baseline simples, estável e interpretável.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Treinado com class_weight = balanced para lidar melhor com o desequilíbrio.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Útil para perceber limites e ganhos de modelos mais complexos.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25780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28800"/>
            <a:ext cx="4800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Rede Neural densa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2258568"/>
            <a:ext cx="480060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Arquitetura multicamada adequada a dados tabulares.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Uso de Batch Normalization, Dropout e class weights.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Early stopping monitorizado por validation AUC para reduzir overfitting.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920240" y="5486400"/>
            <a:ext cx="8321040" cy="0"/>
          </a:xfrm>
          <a:prstGeom prst="line">
            <a:avLst/>
          </a:prstGeom>
          <a:noFill/>
          <a:ln w="38100">
            <a:solidFill>
              <a:srgbClr val="DDE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5394960"/>
            <a:ext cx="182880" cy="182880"/>
          </a:xfrm>
          <a:prstGeom prst="ellipse">
            <a:avLst/>
          </a:prstGeom>
          <a:solidFill>
            <a:srgbClr val="2992A3"/>
          </a:solidFill>
          <a:ln w="12700">
            <a:solidFill>
              <a:srgbClr val="2992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5733288"/>
            <a:ext cx="1005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09060" y="5394960"/>
            <a:ext cx="182880" cy="182880"/>
          </a:xfrm>
          <a:prstGeom prst="ellipse">
            <a:avLst/>
          </a:prstGeom>
          <a:solidFill>
            <a:srgbClr val="3B6FB8"/>
          </a:solidFill>
          <a:ln w="12700">
            <a:solidFill>
              <a:srgbClr val="3B6F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7580" y="5733288"/>
            <a:ext cx="1005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Balanceamento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89320" y="5394960"/>
            <a:ext cx="182880" cy="182880"/>
          </a:xfrm>
          <a:prstGeom prst="ellipse">
            <a:avLst/>
          </a:prstGeom>
          <a:solidFill>
            <a:srgbClr val="E69138"/>
          </a:solidFill>
          <a:ln w="12700">
            <a:solidFill>
              <a:srgbClr val="E691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5733288"/>
            <a:ext cx="1005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Treino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69580" y="5394960"/>
            <a:ext cx="182880" cy="182880"/>
          </a:xfrm>
          <a:prstGeom prst="ellipse">
            <a:avLst/>
          </a:prstGeom>
          <a:solidFill>
            <a:srgbClr val="3A9972"/>
          </a:solidFill>
          <a:ln w="12700">
            <a:solidFill>
              <a:srgbClr val="3A99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58100" y="5733288"/>
            <a:ext cx="1005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149840" y="5394960"/>
            <a:ext cx="182880" cy="182880"/>
          </a:xfrm>
          <a:prstGeom prst="ellipse">
            <a:avLst/>
          </a:prstGeom>
          <a:solidFill>
            <a:srgbClr val="1D7685"/>
          </a:solidFill>
          <a:ln w="12700">
            <a:solidFill>
              <a:srgbClr val="1D76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38360" y="5733288"/>
            <a:ext cx="1005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Interpretação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9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5778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Comparação de desempenho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escolha do melhor modelo depende da prioridade: interpretar melhor ou detetar mais casos de risco.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6327648"/>
            <a:ext cx="11045952" cy="0"/>
          </a:xfrm>
          <a:prstGeom prst="line">
            <a:avLst/>
          </a:prstGeom>
          <a:noFill/>
          <a:ln w="9525">
            <a:solidFill>
              <a:srgbClr val="DDE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03152" y="643737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13232" y="1600200"/>
            <a:ext cx="10698480" cy="457200"/>
          </a:xfrm>
          <a:prstGeom prst="rect">
            <a:avLst/>
          </a:prstGeom>
          <a:solidFill>
            <a:srgbClr val="12314E"/>
          </a:solidFill>
          <a:ln w="12700">
            <a:solidFill>
              <a:srgbClr val="12314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37360"/>
            <a:ext cx="2240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27832" y="1737360"/>
            <a:ext cx="1874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85232" y="1737360"/>
            <a:ext cx="2057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classe positiva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25512" y="1737360"/>
            <a:ext cx="37947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2057400"/>
            <a:ext cx="1069848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21992"/>
            <a:ext cx="2240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 Logística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3227832" y="2221992"/>
            <a:ext cx="1874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ligeiramente superior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5285232" y="2221992"/>
            <a:ext cx="20574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2,77%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7525512" y="2221992"/>
            <a:ext cx="37947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interpretável, mas quase não sinaliza risco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13232" y="2660904"/>
            <a:ext cx="10698480" cy="603504"/>
          </a:xfrm>
          <a:prstGeom prst="rect">
            <a:avLst/>
          </a:prstGeom>
          <a:solidFill>
            <a:srgbClr val="F8FAFD"/>
          </a:solidFill>
          <a:ln w="10160">
            <a:solidFill>
              <a:srgbClr val="DDE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2825496"/>
            <a:ext cx="2240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Rede Neural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3227832" y="2825496"/>
            <a:ext cx="1874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ligeiramente inferior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5285232" y="2825496"/>
            <a:ext cx="20574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29,41%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7525512" y="2825496"/>
            <a:ext cx="37947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melhor para triagem e sinalização clínica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3136392" y="1600200"/>
            <a:ext cx="0" cy="1664208"/>
          </a:xfrm>
          <a:prstGeom prst="line">
            <a:avLst/>
          </a:prstGeom>
          <a:noFill/>
          <a:ln w="10160">
            <a:solidFill>
              <a:srgbClr val="DDE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93792" y="1600200"/>
            <a:ext cx="0" cy="1664208"/>
          </a:xfrm>
          <a:prstGeom prst="line">
            <a:avLst/>
          </a:prstGeom>
          <a:noFill/>
          <a:ln w="10160">
            <a:solidFill>
              <a:srgbClr val="DDE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34072" y="1600200"/>
            <a:ext cx="0" cy="1664208"/>
          </a:xfrm>
          <a:prstGeom prst="line">
            <a:avLst/>
          </a:prstGeom>
          <a:noFill/>
          <a:ln w="10160">
            <a:solidFill>
              <a:srgbClr val="DDE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493008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8FAFD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5568" y="3749040"/>
            <a:ext cx="1828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crítica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" y="4133088"/>
            <a:ext cx="4206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accuracy isolada não é suficiente.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Num cenário clínico, o recall da classe positiva tende a ser prioritário.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6263640" y="3493008"/>
            <a:ext cx="4828032" cy="1325880"/>
          </a:xfrm>
          <a:prstGeom prst="roundRect">
            <a:avLst>
              <a:gd name="adj" fmla="val 5517"/>
            </a:avLst>
          </a:prstGeom>
          <a:solidFill>
            <a:srgbClr val="F8FAFD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3749040"/>
            <a:ext cx="1828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Mensagem final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37960" y="4133088"/>
            <a:ext cx="4023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rede neural é mais útil para sinalizar risco.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regressão logística mantém valor como referência interpretável.</a:t>
            </a:r>
            <a:endParaRPr lang="en-US" sz="11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9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5778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opcional para o fim da apresentação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haja tempo, o dashboard permite mostrar o pipeline e os resultados de forma interativa.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6327648"/>
            <a:ext cx="11045952" cy="0"/>
          </a:xfrm>
          <a:prstGeom prst="line">
            <a:avLst/>
          </a:prstGeom>
          <a:noFill/>
          <a:ln w="9525">
            <a:solidFill>
              <a:srgbClr val="DDE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03152" y="643737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pic>
        <p:nvPicPr>
          <p:cNvPr id="7" name="Image 0" descr="/mnt/data/patient_readmission_dashboard/dashboard_mock.png">    </p:cNvPr>
          <p:cNvPicPr>
            <a:picLocks noChangeAspect="1"/>
          </p:cNvPicPr>
          <p:nvPr/>
        </p:nvPicPr>
        <p:blipFill>
          <a:blip r:embed="rId1"/>
          <a:srcRect l="0" r="0" t="1515" b="1515"/>
          <a:stretch/>
        </p:blipFill>
        <p:spPr>
          <a:xfrm>
            <a:off x="685800" y="1554480"/>
            <a:ext cx="603504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059168" y="1481328"/>
            <a:ext cx="42519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33488" y="1764792"/>
            <a:ext cx="2743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mostrar na demo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360920" y="2212848"/>
            <a:ext cx="342900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KPIs do dataset e desequilíbrio da classe-alvo.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Exploração rápida de idade, internamentos prévios e tempo de internamento.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Comparação de modelos e importância das variáveis.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Previsão individual para ilustrar a utilização prática.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841248" y="5193792"/>
            <a:ext cx="15544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demo local</a:t>
            </a:r>
            <a:endParaRPr lang="en-US" sz="1200" dirty="0"/>
          </a:p>
        </p:txBody>
      </p:sp>
      <p:sp>
        <p:nvSpPr>
          <p:cNvPr id="12" name="Text 9">
            <a:hlinkClick r:id="rId2" tooltip=""/>
          </p:cNvPr>
          <p:cNvSpPr/>
          <p:nvPr/>
        </p:nvSpPr>
        <p:spPr>
          <a:xfrm>
            <a:off x="2606040" y="51937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3B6FB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http://localhost:8501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41248" y="55595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9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57784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Conclusões e próximos passos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Síntese final do trabalho e caminhos de melhoria.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6327648"/>
            <a:ext cx="11045952" cy="0"/>
          </a:xfrm>
          <a:prstGeom prst="line">
            <a:avLst/>
          </a:prstGeom>
          <a:noFill/>
          <a:ln w="9525">
            <a:solidFill>
              <a:srgbClr val="DDE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03152" y="643737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13232" y="1554480"/>
            <a:ext cx="52578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Conclusões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267712"/>
            <a:ext cx="43891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problema é fortemente desequilibrado, o que limita métricas globais como accuracy.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histórico de contacto hospitalar é o principal conjunto de sinais preditivos.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rede neural mostrou maior utilidade para sinalização de risco.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regressão logística mantém valor como baseline interpretável.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074920" cy="3520440"/>
          </a:xfrm>
          <a:prstGeom prst="roundRect">
            <a:avLst>
              <a:gd name="adj" fmla="val 2078"/>
            </a:avLst>
          </a:prstGeom>
          <a:solidFill>
            <a:srgbClr val="F8FAFD"/>
          </a:solidFill>
          <a:ln w="12700">
            <a:solidFill>
              <a:srgbClr val="DDE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Trabalho futuro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2267712"/>
            <a:ext cx="411480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Ajuste do threshold de decisão.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Técnicas de reamostragem e calibração.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Engenharia de variáveis com maior contexto clínico.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Validação adicional antes de uso operacional.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97280" y="5413248"/>
            <a:ext cx="9966960" cy="402336"/>
          </a:xfrm>
          <a:prstGeom prst="roundRect">
            <a:avLst>
              <a:gd name="adj" fmla="val 9091"/>
            </a:avLst>
          </a:prstGeom>
          <a:solidFill>
            <a:srgbClr val="2992A3"/>
          </a:solidFill>
          <a:ln w="12700">
            <a:solidFill>
              <a:srgbClr val="2992A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5468112"/>
            <a:ext cx="97475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Mensagem final: IA pode apoiar a gestão clínica quando é avaliada com métricas adequadas ao problema.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Instituto Politécnico de Santarém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Predição do Risco de Readmissão Hospitalar</dc:title>
  <dc:subject>Predição do risco de readmissão hospitalar</dc:subject>
  <dc:creator>OpenAI</dc:creator>
  <cp:lastModifiedBy>OpenAI</cp:lastModifiedBy>
  <cp:revision>1</cp:revision>
  <dcterms:created xsi:type="dcterms:W3CDTF">2026-05-02T13:21:32Z</dcterms:created>
  <dcterms:modified xsi:type="dcterms:W3CDTF">2026-05-02T13:21:32Z</dcterms:modified>
</cp:coreProperties>
</file>